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7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panel. Introduce Group 12 - CodeX and the project title. (Time budget: 15 min total; roughly 1 min per content slide, 6-7 min for the demonstration.)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context: Rajarata farmers, the farmer-buyer gap, middlemen and waste. HarvestHub is a verified, trust-based supply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problems: information asymmetry, trust gap, logistics, payment risk. Each maps to a HarvestHub feature on the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solution pillars, matching each to the problems on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measurable objectives. Objectives 1-3 are complete (Increments 01 and 02); 4-6 are Increment 03, currently scaffolded.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one functional requirement per role (camera, cost formula, listing lock, advance release) and the three technical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live demo: farmer login, pin farm location and guided capture, officer portal grading, buyer search/filter and chat. Then note Increment 03 scaffolding and the plan for the remaining 25%.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 and invite questions (15-minute Q&amp;A session).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4CAF50">
              <a:alpha val="12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4CAF50">
              <a:alpha val="10000"/>
            </a:srgbClr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4" name="Image 0" descr="un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502920"/>
            <a:ext cx="3200400" cy="21342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310896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Agricultural Marketplace and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Management System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4937760" y="4206240"/>
            <a:ext cx="2286000" cy="0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0" y="434340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Progress Evaluation Presentation    Project ICT 2212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502920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12  –  CodeX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5440680"/>
            <a:ext cx="9445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FC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Information and Communication Technology (BICT)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AFC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Rajarata University of Sri Lanka, Mihintale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is the primary livelihood in the North Central Province (Rajarata), yet a wide gap separates rural farmers from urban buyers.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5394960" cy="3291840"/>
          </a:xfrm>
          <a:prstGeom prst="roundRect">
            <a:avLst>
              <a:gd name="adj" fmla="val 3333"/>
            </a:avLst>
          </a:prstGeom>
          <a:solidFill>
            <a:srgbClr val="E8F5EA"/>
          </a:solidFill>
          <a:ln w="12700">
            <a:solidFill>
              <a:srgbClr val="E8F5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current situation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3566160"/>
            <a:ext cx="457200" cy="4572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3520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Middlemen dominate the supply chain, reducing farmer profits.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4389120"/>
            <a:ext cx="457200" cy="4572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43434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amount of vegetable waste are thrown away after harvesting, before the vegetables reach the market.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8680" y="5212080"/>
            <a:ext cx="457200" cy="4572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5166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trusted way for distant buyers to deal directly with farmers.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132588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16" name="Image 0" descr="un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600200"/>
            <a:ext cx="777240" cy="77724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589520" y="1600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Solution: HarvestHub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629400" y="26060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ecosystem that bypasses middlemen through a "Bidirectional Marketplace", directly connecting Farmers, Buyers, Transporters and Agricultural Officers.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629400" y="3995928"/>
            <a:ext cx="182880" cy="1828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95160" y="38404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Officer-verified crop quality before listing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6629400" y="4681728"/>
            <a:ext cx="182880" cy="1828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95160" y="45262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transport cost and vehicle assignment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629400" y="5367528"/>
            <a:ext cx="182880" cy="1828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95160" y="52120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Payment-first escrow with 2-way delivery confirmation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HarvestHub  |  Group 12 - CodeX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6070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27" name="Image 1" descr="un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27648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8F5EA"/>
          </a:solidFill>
          <a:ln w="12700">
            <a:solidFill>
              <a:srgbClr val="E8F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Asymmetry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2057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harvest without knowing real market demand, causing oversupply and price crashes.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8328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6916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3774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Trust Gap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337560"/>
            <a:ext cx="2057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Distant urban buyers cannot verify crop quality, so they prefer middlemen over small-scale farmers.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E8F5EA"/>
          </a:solidFill>
          <a:ln w="12700">
            <a:solidFill>
              <a:srgbClr val="E8F5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6916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774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Logistical Inefficiency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337560"/>
            <a:ext cx="2057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for small harvests is hard to find and expensive, so fresh produce spoils before reaching the market.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052560" y="1463040"/>
            <a:ext cx="2606040" cy="4480560"/>
          </a:xfrm>
          <a:prstGeom prst="roundRect">
            <a:avLst>
              <a:gd name="adj" fmla="val 421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0" y="16916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23774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Risk &amp; Uncertainty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3337560"/>
            <a:ext cx="2057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secure system for advance payments; farmers and buyers fear dealing with strangers.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HarvestHub  |  Group 12 - CodeX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21" name="Image 0" descr="un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27648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four-user platform: Farmers, Buyers, Agricultural Officers and Transporters.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E8F5EA"/>
          </a:solidFill>
          <a:ln w="12700">
            <a:solidFill>
              <a:srgbClr val="E8F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640080" cy="6400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011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Bidirectional Marketplace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51460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list available harvest (Supply) while Buyers post specific "Wanted" ads (Demand).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103120"/>
            <a:ext cx="640080" cy="6400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0116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Quality Assurance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51460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Agriculture Officers review visual evidence on a desktop dashboard and assign quality grades before listings go live.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297680"/>
            <a:ext cx="640080" cy="6400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42062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Logistics Coordination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470916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engine calculates transport fees from distance and weight and assigns the most suitable vehicle.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E8F5EA"/>
          </a:solidFill>
          <a:ln w="12700">
            <a:solidFill>
              <a:srgbClr val="E8F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97680"/>
            <a:ext cx="640080" cy="6400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42062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Tracking &amp; Escrow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470916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 payment-first policy with a 2-way digital handshake confirms delivery and releases escrow funds automatically.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HarvestHub  |  Group 12 - CodeX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6" name="Image 0" descr="un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27648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109960" cy="594360"/>
          </a:xfrm>
          <a:prstGeom prst="roundRect">
            <a:avLst>
              <a:gd name="adj" fmla="val 18462"/>
            </a:avLst>
          </a:prstGeom>
          <a:solidFill>
            <a:srgbClr val="E8F5EA"/>
          </a:solidFill>
          <a:ln w="12700">
            <a:solidFill>
              <a:srgbClr val="E8F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801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Develop a trusted agricultural marketplace and logistics ecosystem connecting farmers directly with buyers.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E8F5EA"/>
          </a:solidFill>
          <a:ln w="12700">
            <a:solidFill>
              <a:srgbClr val="E8F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311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Listing System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61518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create listings using a guided real-time camera with GPS location checks.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E8F5EA"/>
          </a:solidFill>
          <a:ln w="12700">
            <a:solidFill>
              <a:srgbClr val="E8F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423160"/>
            <a:ext cx="548640" cy="54864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2311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Officer Verification Panel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269480" y="261518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view pending listings and manually assign a Quality Grade (e.g., Grade A).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E8F5EA"/>
          </a:solidFill>
          <a:ln w="12700">
            <a:solidFill>
              <a:srgbClr val="E8F5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794760"/>
            <a:ext cx="548640" cy="54864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6027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Negotiation &amp; Scheduling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98678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chat to negotiate prices and lock in a pickup date.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347472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E8F5EA"/>
          </a:solidFill>
          <a:ln w="12700">
            <a:solidFill>
              <a:srgbClr val="E8F5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794760"/>
            <a:ext cx="548640" cy="54864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36027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Dispatch &amp; Cost Calculator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398678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vehicles by weight capacity and calculates fees automatically.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84632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E8F5EA"/>
          </a:solidFill>
          <a:ln w="12700">
            <a:solidFill>
              <a:srgbClr val="E8F5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166360"/>
            <a:ext cx="548640" cy="54864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49743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Proof-of-Loading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600200" y="535838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Geotagged photos of loaded crops trigger release of the advance payment.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17920" y="484632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E8F5EA"/>
          </a:solidFill>
          <a:ln w="12700">
            <a:solidFill>
              <a:srgbClr val="E8F5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2240" y="5166360"/>
            <a:ext cx="548640" cy="54864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9224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269480" y="49743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Final Settlement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269480" y="5358384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2-way confirmation by buyer and transporter releases final payment and updates trust ratings.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HarvestHub  |  Group 12 - CodeX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37" name="Image 0" descr="un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27648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353"/>
            </a:avLst>
          </a:prstGeom>
          <a:solidFill>
            <a:srgbClr val="E8F5EA"/>
          </a:solidFill>
          <a:ln w="12700">
            <a:solidFill>
              <a:srgbClr val="E8F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2286000"/>
            <a:ext cx="182880" cy="1828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21945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real-time camera: </a:t>
            </a:r>
            <a:r>
              <a:rPr lang="en-US" sz="150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uploads disabled; wide-angle and close-up evidence of the harvest is captured live.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3218688"/>
            <a:ext cx="182880" cy="1828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3127248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transport cost: </a:t>
            </a:r>
            <a:r>
              <a:rPr lang="en-US" sz="150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(Distance km × Rate per km) + (Load Weight × Rate per kg).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4151376"/>
            <a:ext cx="182880" cy="1828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4059936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lock: </a:t>
            </a:r>
            <a:r>
              <a:rPr lang="en-US" sz="150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listing becomes "Under Review" when an officer claims it, preventing duplicate grading.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5084064"/>
            <a:ext cx="182880" cy="1828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4992624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advance release: </a:t>
            </a:r>
            <a:r>
              <a:rPr lang="en-US" sz="150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to the Farmer the moment the Transporter sets the status to "Start Journey".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06640" y="1371600"/>
            <a:ext cx="4251960" cy="4663440"/>
          </a:xfrm>
          <a:prstGeom prst="roundRect">
            <a:avLst>
              <a:gd name="adj" fmla="val 258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2668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26243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REST API communication secured with Spring Security and JWT authentication.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3502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Management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3886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Atlas cloud database for scalable, real-time synchronization.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47640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CAF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514807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calculator uses the Google Maps API for accurate distances.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HarvestHub  |  Group 12 - CodeX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6070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23" name="Image 0" descr="un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6327648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Demonstration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milestone completed - Increments 01 and 02 delivered, Increment 03 architecturally ready.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256032"/>
          </a:xfrm>
          <a:prstGeom prst="roundRect">
            <a:avLst>
              <a:gd name="adj" fmla="val 50000"/>
            </a:avLst>
          </a:prstGeom>
          <a:solidFill>
            <a:srgbClr val="E8F5EA"/>
          </a:solidFill>
          <a:ln w="12700">
            <a:solidFill>
              <a:srgbClr val="E8F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5006340" cy="256032"/>
          </a:xfrm>
          <a:prstGeom prst="roundRect">
            <a:avLst>
              <a:gd name="adj" fmla="val 50000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6675120" cy="1234440"/>
          </a:xfrm>
          <a:prstGeom prst="roundRect">
            <a:avLst>
              <a:gd name="adj" fmla="val 8889"/>
            </a:avLst>
          </a:prstGeom>
          <a:solidFill>
            <a:srgbClr val="E8F5EA"/>
          </a:solidFill>
          <a:ln w="12700">
            <a:solidFill>
              <a:srgbClr val="E8F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31720"/>
            <a:ext cx="1097280" cy="777240"/>
          </a:xfrm>
          <a:prstGeom prst="roundRect">
            <a:avLst>
              <a:gd name="adj" fmla="val 14118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33172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 01: Trust &amp; Verification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25328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farmer app: location-locked initiation, smart guided camera, submission to cloud database. JavaFX officer portal: pending queue, geotagged media review, approve and grade.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6675120" cy="1234440"/>
          </a:xfrm>
          <a:prstGeom prst="roundRect">
            <a:avLst>
              <a:gd name="adj" fmla="val 8889"/>
            </a:avLst>
          </a:prstGeom>
          <a:solidFill>
            <a:srgbClr val="E8F5EA"/>
          </a:solidFill>
          <a:ln w="12700">
            <a:solidFill>
              <a:srgbClr val="E8F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703320"/>
            <a:ext cx="1097280" cy="777240"/>
          </a:xfrm>
          <a:prstGeom prst="roundRect">
            <a:avLst>
              <a:gd name="adj" fmla="val 14118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70332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3566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 02: Marketplace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057400" y="39044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D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app: search and filter verified crops, post demand requests, real-time chat for price negotiation and scheduling.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6675120" cy="1234440"/>
          </a:xfrm>
          <a:prstGeom prst="roundRect">
            <a:avLst>
              <a:gd name="adj" fmla="val 8889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5074920"/>
            <a:ext cx="1097280" cy="777240"/>
          </a:xfrm>
          <a:prstGeom prst="roundRect">
            <a:avLst>
              <a:gd name="adj" fmla="val 14118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07492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4937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 03: Logistics Ecosystem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52760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F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Transporter API endpoints and UI views (Job Queue, Proof-of-Loading Camera) scaffolded for the final 25% dispatch logic.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452360" y="1600200"/>
            <a:ext cx="4206240" cy="4434840"/>
          </a:xfrm>
          <a:prstGeom prst="roundRect">
            <a:avLst>
              <a:gd name="adj" fmla="val 2609"/>
            </a:avLst>
          </a:prstGeom>
          <a:solidFill>
            <a:srgbClr val="E8F5EA"/>
          </a:solidFill>
          <a:ln w="12700">
            <a:solidFill>
              <a:srgbClr val="E8F5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52360" y="1737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Farmer App</a:t>
            </a:r>
            <a:endParaRPr lang="en-US" sz="1800" dirty="0"/>
          </a:p>
        </p:txBody>
      </p:sp>
      <p:pic>
        <p:nvPicPr>
          <p:cNvPr id="23" name="Image 0" descr="un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548" y="2286000"/>
            <a:ext cx="1210235" cy="2743200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500108" y="5120640"/>
            <a:ext cx="13931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pic>
        <p:nvPicPr>
          <p:cNvPr id="25" name="Image 1" descr="un/ppt/media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1511" y="2286000"/>
            <a:ext cx="1310640" cy="274320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8820071" y="5120640"/>
            <a:ext cx="149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Farm Location</a:t>
            </a:r>
            <a:endParaRPr lang="en-US" sz="1200" dirty="0"/>
          </a:p>
        </p:txBody>
      </p:sp>
      <p:pic>
        <p:nvPicPr>
          <p:cNvPr id="27" name="Image 2" descr="un/ppt/media/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1879" y="2286000"/>
            <a:ext cx="1187532" cy="27432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0240439" y="5120640"/>
            <a:ext cx="13704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Dashboard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HarvestHub  |  Group 12 - CodeX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106070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31" name="Image 3" descr="un/ppt/media/imag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7120" y="6327648"/>
            <a:ext cx="38404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4CAF50">
              <a:alpha val="12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4CAF50">
              <a:alpha val="10000"/>
            </a:srgbClr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4" name="Image 0" descr="un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373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320040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411480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E8F5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Answers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937760" y="4892040"/>
            <a:ext cx="2286000" cy="0"/>
          </a:xfrm>
          <a:prstGeom prst="line">
            <a:avLst/>
          </a:prstGeom>
          <a:noFill/>
          <a:ln w="19050">
            <a:solidFill>
              <a:srgbClr val="4CAF5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71600" y="507492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HarvestHub  |  Group 12 - CodeX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967</Words>
  <Application>Microsoft Office PowerPoint</Application>
  <PresentationFormat>Widescreen</PresentationFormat>
  <Paragraphs>126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HarvestHub - 75% Progress Evaluation</dc:title>
  <dc:subject>PptxGenJS Presentation</dc:subject>
  <dc:creator>PptxGenJS</dc:creator>
  <cp:lastModifiedBy>imashadisni1@gmail.com</cp:lastModifiedBy>
  <cp:revision>2</cp:revision>
  <dcterms:created xsi:type="dcterms:W3CDTF">2026-09-28T12:27:45Z</dcterms:created>
  <dcterms:modified xsi:type="dcterms:W3CDTF">2026-09-28T12:55:41Z</dcterms:modified>
</cp:coreProperties>
</file>